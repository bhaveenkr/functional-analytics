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Haircare</c:v>
                </c:pt>
                <c:pt idx="2">
                  <c:v>Skincare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161521</c:v>
                </c:pt>
                <c:pt idx="1">
                  <c:v>174455</c:v>
                </c:pt>
                <c:pt idx="2">
                  <c:v>241628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CC-4DF6-80CB-B73E56D301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 2</c:v>
                </c:pt>
                <c:pt idx="1">
                  <c:v>Supplier 1</c:v>
                </c:pt>
                <c:pt idx="2">
                  <c:v>Supplier 4</c:v>
                </c:pt>
                <c:pt idx="3">
                  <c:v>Supplier 5</c:v>
                </c:pt>
                <c:pt idx="4">
                  <c:v>Supplier 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14105</c:v>
                </c:pt>
                <c:pt idx="1">
                  <c:v>13545</c:v>
                </c:pt>
                <c:pt idx="2">
                  <c:v>11756</c:v>
                </c:pt>
                <c:pt idx="3">
                  <c:v>9381</c:v>
                </c:pt>
                <c:pt idx="4">
                  <c:v>7997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F6-4556-93A0-2B3146FC45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%</c:v>
                </c:pt>
              </c:strCache>
            </c:strRef>
          </c:tx>
          <c:spPr>
            <a:solidFill>
              <a:srgbClr val="C1622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 5</c:v>
                </c:pt>
                <c:pt idx="1">
                  <c:v>Supplier 3</c:v>
                </c:pt>
                <c:pt idx="2">
                  <c:v>Supplier 2</c:v>
                </c:pt>
                <c:pt idx="3">
                  <c:v>Supplier 4</c:v>
                </c:pt>
                <c:pt idx="4">
                  <c:v>Supplier 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2.67</c:v>
                </c:pt>
                <c:pt idx="1">
                  <c:v>2.4700000000000002</c:v>
                </c:pt>
                <c:pt idx="2">
                  <c:v>2.36</c:v>
                </c:pt>
                <c:pt idx="3">
                  <c:v>2.34</c:v>
                </c:pt>
                <c:pt idx="4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56-4DC7-AF57-839D09A891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Cost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\₹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Air</c:v>
                </c:pt>
                <c:pt idx="1">
                  <c:v>Road</c:v>
                </c:pt>
                <c:pt idx="2">
                  <c:v>Rail</c:v>
                </c:pt>
                <c:pt idx="3">
                  <c:v>Sea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6.02</c:v>
                </c:pt>
                <c:pt idx="1">
                  <c:v>5.54</c:v>
                </c:pt>
                <c:pt idx="2">
                  <c:v>5.47</c:v>
                </c:pt>
                <c:pt idx="3">
                  <c:v>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FF-4E3E-8BA9-C34436E150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\₹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21A17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Skincare</c:v>
                </c:pt>
                <c:pt idx="2">
                  <c:v>Haircare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99.16</c:v>
                </c:pt>
                <c:pt idx="1">
                  <c:v>98.66</c:v>
                </c:pt>
                <c:pt idx="2">
                  <c:v>98.57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DC-4D15-A761-9C0F8E05F9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8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39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ANALYSIS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Project — Data-Driven Insights across Inventory, Logistics, Suppliers &amp; Profitability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2011680" cy="0"/>
          </a:xfrm>
          <a:prstGeom prst="line">
            <a:avLst/>
          </a:prstGeom>
          <a:noFill/>
          <a:ln w="38100">
            <a:solidFill>
              <a:srgbClr val="21A1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Abhiyuday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Sharma 12508368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Bhaveen Kumar Tak 12506979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04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Mittal School of Business, Lovely Professional University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07040" y="5212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07040" y="5212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45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Business 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0449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294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Dashboard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1545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Supplier Analysis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 Analysis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30998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793992" y="30449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2200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793992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Key Findings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172200" y="45994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220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793992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5349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7220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793992" y="5294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Conclusion &amp; Future Scope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0" cy="4572000"/>
          </a:xfrm>
          <a:prstGeom prst="roundRect">
            <a:avLst>
              <a:gd name="adj" fmla="val 1200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supply chains generate large volumes of data across procurement, production, inventory, logistics and sales — but this data is often scattered across spreadsheets and systems, making it hard to see the full picture.</a:t>
            </a:r>
            <a:endParaRPr lang="en-US" sz="14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consolidates a real-world style supply chain dataset into an interactive Power BI dashboard, allowing decision-makers to monitor performance and identify improvement areas at a glance.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business problem: how can a company track product performance, supplier reliability, logistics cost and profitability together, in one place, to make faster and better-informed decisions?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0299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supplier and logistics data tracked in silos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4472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slows down decision-making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Inefficiencies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8646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suppliers or transport modes go unnoticed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Data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product, supplier, inventory and logistics data into a single unified model.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revenue, sales volume and profitability across product categories.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Suppliers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suppliers on production volume, defect rate and lead time.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Logistics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cost-efficient transportation modes and routes.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805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Quality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defect and inspection patterns to strengthen quality control.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8388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Decisions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analysis into clear, actionable business recommendations.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(SKUs)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1488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2706624"/>
            <a:ext cx="1773936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record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74336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38928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11496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111496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87184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51776" y="2706624"/>
            <a:ext cx="1773936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24344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Tracked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00032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64624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37192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537192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Modes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Captured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3575304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4015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type, SKU, Price, Availability, Revenue generated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4197096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023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Production: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name, Location, Production volume, Manufacturing cost/lead time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4818888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645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Quality: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Order quantities, Inspection results, Defect rates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360" y="5440680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2669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times/costs/carriers, Transportation mode, Routes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306324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122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703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Types: skincare, haircare, cosmetics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142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Suppliers: Supplier 1 – Supplier 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5811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Transport Modes: Road, Rail, Air, Sea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50200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Inspection Results: Pass, Fail, Pending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54589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Derived fields added: Profit Margin, Revenue Category, Shipping Efficiency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(CSV)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supply chain dataset with 100 SKU-level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5400000">
            <a:off x="2596896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8" name="Shape 6"/>
          <p:cNvSpPr/>
          <p:nvPr/>
        </p:nvSpPr>
        <p:spPr>
          <a:xfrm>
            <a:off x="2807208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07208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renamed and validated columns; handled data types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4855464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65776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65776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 into product, supplier and logistics dimensions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114032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24344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24344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KPIs — Profit Margin, Revenue Category, Shipping Efficiency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9372600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23" name="Shape 21"/>
          <p:cNvSpPr/>
          <p:nvPr/>
        </p:nvSpPr>
        <p:spPr>
          <a:xfrm>
            <a:off x="9582912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582912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4-page interactive dashboard with slicers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560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   •   Power Query Editor   •   DAX (Data Analysis Expressions)   •   Excel/CSV data source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inconsistent entries, standardised column names, verified numeric ranges for costs/rates, and engineered new calculated columns (Profit Margin, Revenue Category, Shipping Efficiency) to support deeper analysis.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interactive Power BI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3162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316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KPIs: revenue, units sold, shipping cost, defect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55848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8828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3882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Supplier Analysis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38728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production volumes, defect and inspection breakdowns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22" name="Shape 20"/>
          <p:cNvSpPr/>
          <p:nvPr/>
        </p:nvSpPr>
        <p:spPr>
          <a:xfrm>
            <a:off x="6163056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63056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46036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60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300216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cost/time by mode, profit margin, supplier lead times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70264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70264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30" name="Shape 28"/>
          <p:cNvSpPr/>
          <p:nvPr/>
        </p:nvSpPr>
        <p:spPr>
          <a:xfrm>
            <a:off x="8970264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70264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53244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5324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107424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153144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takeaways and action items for each area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synchronized slicers — Product Type, Supplier Name, Transportation Mode and Inspection Result — letting users filter the entire report from any page.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2_1_Executiv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company-wide performance snapshot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 — KPIs &amp;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569464"/>
            <a:ext cx="227685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₹577.60K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56432" y="2569464"/>
            <a:ext cx="2276856" cy="54864"/>
          </a:xfrm>
          <a:prstGeom prst="rect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 Sold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2569464"/>
            <a:ext cx="227685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₹5.55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Cost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782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42832" y="2569464"/>
            <a:ext cx="2276856" cy="54864"/>
          </a:xfrm>
          <a:prstGeom prst="rect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2.28%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Defect Rate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" y="324612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400800" y="28803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4F8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2940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56832" y="349300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0" y="33558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is the top-performing category, generating ₹0.24M — nearly 42% of total revenue.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56832" y="425196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0" y="4114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transport has the highest average shipping cost (₹6.02) versus Sea, the cheapest (₹4.97).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56832" y="501091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58000" y="487375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products show the highest average defect rate (2.48%), warranting quality review.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656832" y="576986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0" y="56327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sold 46K units across all categories with only a 2.28% average defect rate overall.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Supplier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3_2_Inventory_Supplie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stock, production and supplier quality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Supplier —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Volume by Supplier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920240"/>
          <a:ext cx="55778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Defect Rate by Supplier</a:t>
            </a:r>
            <a:endParaRPr lang="en-US" sz="135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" y="4572000"/>
          <a:ext cx="55778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002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4F8F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56832" y="220370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0" y="2066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 leads production volume (14.1K units), followed closely by Supplier 1 (13.5K).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56832" y="290779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0" y="27706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 has the highest defect rate (2.67%) despite moderate output — a quality risk.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656832" y="36118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combines strong output with the lowest defect rate (1.80%) — the most reliable partner.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56832" y="431596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0" y="4178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holds the highest stock level (1,644 units), needing careful inventory planning.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56832" y="502005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48828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carries the highest manufacturing cost per unit (₹48.99), impacting margins.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56832" y="572414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0" y="558698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stands at 4,777 units across 57K units of total production volume.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Profitability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4_3_Logistics_Profitability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shipping cost, time and margin analysis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Profitability —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Cost by Transport Mode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920240"/>
          <a:ext cx="5577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Profit Margin by Product Type</a:t>
            </a:r>
            <a:endParaRPr lang="en-US" sz="135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" y="4480560"/>
          <a:ext cx="55778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002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4F8F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56832" y="220370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0" y="2066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freight is the costliest mode (₹6.02/unit); Sea is the most economical (₹4.97/unit).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56832" y="290779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0" y="27706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delivers the highest profit margin (99.16%), just ahead of skincare and haircare.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656832" y="36118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 has the longest average lead time (20.13 days) — a potential bottleneck.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56832" y="431596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0" y="4178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offers the shortest lead time (14.78 days), supporting faster replenishment.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56832" y="502005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48828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products have the longest average shipping time among the three categories.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56832" y="572414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0" y="558698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logistics cost across the business is ₹52.92K, with an overall 98.76% profit margin.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5_4_Business_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consolidated takeaways by area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Key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takeaway from each dashboard page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Product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Skincare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Supplier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Stock Category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Haircare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Margin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9768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657600"/>
            <a:ext cx="640080" cy="6400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Costliest Transport Mode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(₹6.02/unit)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4672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657600"/>
            <a:ext cx="640080" cy="6400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Supplier Lead Time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3 (20.13 days)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742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A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and Supplier 1 drive the business, but haircare quality, Air freight cost and Supplier 3's lead time are the clearest areas for improvement.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6824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promotional spend on skincare — the strongest revenue driver.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demand drivers behind Supplier 1's revenue leadership.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162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93992" y="16824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128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inspection and QC protocols for Supplier 5 (highest defect rate).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defects in haircare production specifically.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4206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0432" y="41970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274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haircare stock allocation to avoid overstocking vs. demand.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skincare manufacturing costs to protect margins.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4206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93992" y="41970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7274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more volume to Sea/Rail where transit time allows, to cut cost.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Supplier 3 to shorten lead time or diversify sourcing.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and promote high-margin categories like cosmetics.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36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100 SKU-level records, limiting statistical depth.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dimension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0156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 single snapshot — seasonality and trends can't be analysed.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452628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figures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188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margin and defect values appear synthetic rather than audited financials.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36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customer-level detail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broad demographics, individual customer behaviour isn't captured.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geographic depth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40156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locations are recorded but regional cost drivers aren't broken out.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52628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Power BI file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8188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not connected to a live/refreshing data source.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dashboard turns raw supply chain data into a clear, interactive story — showing that skincare and Supplier 1 lead performance, while haircare quality and Air freight costs are the key levers for improvement.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revenue, inventory, supplier and logistics metrics on one screen, the project demonstrates how business intelligence can shorten the path from raw data to actionable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34086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93408" y="2194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a live/refreshing data source for real-time monitoring.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309067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3408" y="29443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predictive analytics (e.g. demand or defect forecasting) using Power BI + AI visuals.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8404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3408" y="369417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 with a longer time period to analyse seasonal trends.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459028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93408" y="44439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drill-through pages for SKU-level and route-level deep dives.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534009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3408" y="51937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customer feedback data to link satisfaction with supply chain performance.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67528" y="4023360"/>
            <a:ext cx="1463040" cy="0"/>
          </a:xfrm>
          <a:prstGeom prst="line">
            <a:avLst/>
          </a:prstGeom>
          <a:noFill/>
          <a:ln w="38100">
            <a:solidFill>
              <a:srgbClr val="21A1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Abhiyuday</a:t>
            </a:r>
            <a:r>
              <a:rPr lang="en-US" sz="13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Sharma| Bhaveen Kumar Tak  |  Mittal School of Business, LPU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1681</Words>
  <Application>Microsoft Office PowerPoint</Application>
  <PresentationFormat>Widescreen</PresentationFormat>
  <Paragraphs>287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bhaveen kumar tak</cp:lastModifiedBy>
  <cp:revision>2</cp:revision>
  <dcterms:created xsi:type="dcterms:W3CDTF">2026-08-28T23:04:02Z</dcterms:created>
  <dcterms:modified xsi:type="dcterms:W3CDTF">2026-08-29T05:37:29Z</dcterms:modified>
</cp:coreProperties>
</file>